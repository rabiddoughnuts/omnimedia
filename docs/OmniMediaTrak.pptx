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microsoft.com/office/2020/02/relationships/classificationlabels" Target="docMetadata/LabelInfo.xml"/><Relationship Id="rId5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ctr" defTabSz="914400">
              <a:lnSpc>
                <a:spcPct val="90000"/>
              </a:lnSpc>
              <a:buNone/>
              <a:defRPr lang="en-US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ctr" defTabSz="914400">
              <a:lnSpc>
                <a:spcPct val="90000"/>
              </a:lnSpc>
              <a:buNone/>
            </a:pP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lang="en-US" sz="60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D6927E1-B8C4-437F-8286-03FC30FBC7FE}" type="slidenum"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  <a:lvl6pPr lvl="5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6pPr>
            <a:lvl7pPr lvl="6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7pPr>
          </a:lstStyle>
          <a:p>
            <a:pPr marL="432000" indent="-3240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outline text format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864000" lvl="1" indent="-324000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296000" lvl="2" indent="-288000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728000" lvl="3" indent="-216000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160000" lvl="4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592000" lvl="5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3024000" lvl="6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855571F-4F79-45AA-AD6A-D934C079AF1C}" type="slidenum"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720" cy="5811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880" cy="5811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4049A4E-A405-4EB1-A7C6-D94CC87C60E7}" type="slidenum"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D74D63E-88A4-4642-8383-F73BF481C346}" type="slidenum"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US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lang="en-US" sz="60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52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24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2400" b="0" u="none" strike="noStrike">
              <a:solidFill>
                <a:schemeClr val="dk1">
                  <a:tint val="82000"/>
                </a:schemeClr>
              </a:solidFill>
              <a:effectLst/>
              <a:uFillTx/>
              <a:latin typeface="Aptos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8888C83-6E00-4D78-8A56-28A9EB67E090}" type="slidenum"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6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5C1223B-BD74-4727-9A01-600FA3699539}" type="slidenum"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360" cy="823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360" cy="368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920" cy="823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920" cy="368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8" name="PlaceHolder 6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7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8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EDEE925-1C0B-4592-BC23-7959CC055C5D}" type="slidenum"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5913A22-F123-4C26-A63E-C3F9ED58130E}" type="slidenum"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9AEA2F1-B935-4C3C-9DD7-414E6434473E}" type="slidenum"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1" name="PlaceHolder 4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5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6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8051791-7A74-41A2-A93C-ACD3A825532D}" type="slidenum"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7pPr>
          </a:lstStyle>
          <a:p>
            <a: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457200" lvl="1" algn="l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914400" lvl="2" algn="l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371600" lvl="3" algn="l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828800" lvl="4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0"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743200"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5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6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9E570D1-BFA6-4F46-A4C8-C39A9BC25DDA}" type="slidenum"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4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4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4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4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4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0" name="Rectangl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450720" y="1111320"/>
            <a:ext cx="5492880" cy="3203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en-US" sz="48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OmniMediaTrak</a:t>
            </a:r>
            <a:endParaRPr lang="en-US" sz="48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62" name="Rectangle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760320" y="346320"/>
            <a:ext cx="145800" cy="703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  <p:sp>
        <p:nvSpPr>
          <p:cNvPr id="63" name="Rectangle 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80960" y="4343400"/>
            <a:ext cx="4776840" cy="25200"/>
          </a:xfrm>
          <a:prstGeom prst="rect">
            <a:avLst/>
          </a:prstGeom>
          <a:solidFill>
            <a:srgbClr val="D5D5D5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-19440" rIns="90000" bIns="-19440" anchor="ctr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  <p:pic>
        <p:nvPicPr>
          <p:cNvPr id="64" name="Picture 4"/>
          <p:cNvPicPr/>
          <p:nvPr/>
        </p:nvPicPr>
        <p:blipFill>
          <a:blip r:embed="rId1"/>
          <a:stretch/>
        </p:blipFill>
        <p:spPr>
          <a:xfrm>
            <a:off x="6172200" y="965880"/>
            <a:ext cx="5538600" cy="47750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5" name="Rectangl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631080" y="640080"/>
            <a:ext cx="4818600" cy="1481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en-US" sz="5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Executive Summary:</a:t>
            </a:r>
            <a:endParaRPr lang="en-US" sz="50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67" name="sketch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3320" y="2372760"/>
            <a:ext cx="3254760" cy="18000"/>
          </a:xfrm>
          <a:custGeom>
            <a:avLst/>
            <a:gdLst>
              <a:gd name="textAreaLeft" fmla="*/ 0 w 3254760"/>
              <a:gd name="textAreaRight" fmla="*/ 3255120 w 3254760"/>
              <a:gd name="textAreaTop" fmla="*/ 0 h 18000"/>
              <a:gd name="textAreaBottom" fmla="*/ 18360 h 18000"/>
              <a:gd name="GluePoint1X" fmla="*/ 0 w 3255095"/>
              <a:gd name="GluePoint1Y" fmla="*/ 0 h 18288"/>
              <a:gd name="GluePoint2X" fmla="*/ 618468 w 3255095"/>
              <a:gd name="GluePoint2Y" fmla="*/ 0 h 18288"/>
              <a:gd name="GluePoint3X" fmla="*/ 1269487 w 3255095"/>
              <a:gd name="GluePoint3Y" fmla="*/ 0 h 18288"/>
              <a:gd name="GluePoint4X" fmla="*/ 1953057 w 3255095"/>
              <a:gd name="GluePoint4Y" fmla="*/ 0 h 18288"/>
              <a:gd name="GluePoint5X" fmla="*/ 2636627 w 3255095"/>
              <a:gd name="GluePoint5Y" fmla="*/ 0 h 18288"/>
              <a:gd name="GluePoint6X" fmla="*/ 3255095 w 3255095"/>
              <a:gd name="GluePoint6Y" fmla="*/ 0 h 18288"/>
              <a:gd name="GluePoint7X" fmla="*/ 3255095 w 3255095"/>
              <a:gd name="GluePoint7Y" fmla="*/ 18288 h 18288"/>
              <a:gd name="GluePoint8X" fmla="*/ 2538974 w 3255095"/>
              <a:gd name="GluePoint8Y" fmla="*/ 18288 h 18288"/>
              <a:gd name="GluePoint9X" fmla="*/ 1822853 w 3255095"/>
              <a:gd name="GluePoint9Y" fmla="*/ 18288 h 18288"/>
              <a:gd name="GluePoint10X" fmla="*/ 1171834 w 3255095"/>
              <a:gd name="GluePoint10Y" fmla="*/ 18288 h 18288"/>
              <a:gd name="GluePoint11X" fmla="*/ 0 w 3255095"/>
              <a:gd name="GluePoint11Y" fmla="*/ 18288 h 18288"/>
              <a:gd name="GluePoint12X" fmla="*/ 0 w 3255095"/>
              <a:gd name="GluePoint12Y" fmla="*/ 0 h 18288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</a:cxnLst>
            <a:rect l="textAreaLeft" t="textAreaTop" r="textAreaRight" b="textAreaBottom"/>
            <a:pathLst>
              <a:path fill="none" w="3255095" h="18288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stroke="0" w="3255095" h="18288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cap="rnd" w="38100">
            <a:solidFill>
              <a:srgbClr val="E97132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-26640" rIns="90000" bIns="-26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631080" y="2660760"/>
            <a:ext cx="4818600" cy="3547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OmniMediaTrak is a global media tracking platform covering books, manga, anime, games, podcasts, live events, and more.</a:t>
            </a:r>
            <a:endParaRPr lang="en-US" sz="2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The platform starts with a single-region, managed-first stack and evolves into multi-region compute with a single logical database that scales via partitioning, indexing, and replicas.</a:t>
            </a:r>
            <a:endParaRPr lang="en-US" sz="2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pic>
        <p:nvPicPr>
          <p:cNvPr id="69" name="Picture 4"/>
          <p:cNvPicPr/>
          <p:nvPr/>
        </p:nvPicPr>
        <p:blipFill>
          <a:blip r:embed="rId1"/>
          <a:stretch/>
        </p:blipFill>
        <p:spPr>
          <a:xfrm>
            <a:off x="6099120" y="1525320"/>
            <a:ext cx="5458680" cy="38073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631080" y="640080"/>
            <a:ext cx="4818600" cy="1481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en-US" sz="5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Primary Goals:</a:t>
            </a:r>
            <a:endParaRPr lang="en-US" sz="50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631080" y="2660760"/>
            <a:ext cx="4818600" cy="3547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Low operational burden (managed services)</a:t>
            </a:r>
            <a:endParaRPr lang="en-US" sz="2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Fast catalog browsing and personal list tracking</a:t>
            </a:r>
            <a:endParaRPr lang="en-US" sz="2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Clear path to scale and add features without redesign</a:t>
            </a:r>
            <a:endParaRPr lang="en-US" sz="2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pic>
        <p:nvPicPr>
          <p:cNvPr id="72" name="Picture 4"/>
          <p:cNvPicPr/>
          <p:nvPr/>
        </p:nvPicPr>
        <p:blipFill>
          <a:blip r:embed="rId1"/>
          <a:stretch/>
        </p:blipFill>
        <p:spPr>
          <a:xfrm>
            <a:off x="6099120" y="1525320"/>
            <a:ext cx="5458680" cy="38073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631080" y="640080"/>
            <a:ext cx="4818600" cy="1481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en-US" sz="5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Scope by Phase:</a:t>
            </a:r>
            <a:endParaRPr lang="en-US" sz="50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74" name="PlaceHolder 2"/>
          <p:cNvSpPr>
            <a:spLocks noGrp="1"/>
          </p:cNvSpPr>
          <p:nvPr>
            <p:ph/>
          </p:nvPr>
        </p:nvSpPr>
        <p:spPr>
          <a:xfrm>
            <a:off x="631080" y="2660760"/>
            <a:ext cx="4818600" cy="3547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77500" lnSpcReduction="19999"/>
          </a:bodyPr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Phase 0 (MVP): catalog browsing, auth, personal lists, local/manual ingestion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Phase 1: multi-region compute failover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Phase 2-3: EU/APAC compute for latency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Phase 4: database scaling hardening (partitions, indexes, replicas)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Phase 5: social features via derived read models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</a:pPr>
            <a:endParaRPr lang="en-US" sz="2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pic>
        <p:nvPicPr>
          <p:cNvPr id="75" name="Picture 4"/>
          <p:cNvPicPr/>
          <p:nvPr/>
        </p:nvPicPr>
        <p:blipFill>
          <a:blip r:embed="rId1"/>
          <a:stretch/>
        </p:blipFill>
        <p:spPr>
          <a:xfrm>
            <a:off x="6099120" y="1525320"/>
            <a:ext cx="5458680" cy="38073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631080" y="640080"/>
            <a:ext cx="4818600" cy="1481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en-US" sz="5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Front End:</a:t>
            </a:r>
            <a:endParaRPr lang="en-US" sz="50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/>
          </p:nvPr>
        </p:nvSpPr>
        <p:spPr>
          <a:xfrm>
            <a:off x="631080" y="2660760"/>
            <a:ext cx="4818600" cy="3547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Next.js App Router + TypeScript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Catalog browsing and personal lists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Table-first UI with filters, columns, and list actions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Parity checklist for the original UI layout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</a:pPr>
            <a:endParaRPr lang="en-US" sz="2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pic>
        <p:nvPicPr>
          <p:cNvPr id="78" name="Picture 4"/>
          <p:cNvPicPr/>
          <p:nvPr/>
        </p:nvPicPr>
        <p:blipFill>
          <a:blip r:embed="rId1"/>
          <a:stretch/>
        </p:blipFill>
        <p:spPr>
          <a:xfrm>
            <a:off x="6099120" y="1525320"/>
            <a:ext cx="5458680" cy="38073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631080" y="640080"/>
            <a:ext cx="4818600" cy="1481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en-US" sz="5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Back End:</a:t>
            </a:r>
            <a:endParaRPr lang="en-US" sz="50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631080" y="2660760"/>
            <a:ext cx="4818600" cy="3547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lnSpcReduction="9999"/>
          </a:bodyPr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Fastify + TypeScript (OpenAPI-first target)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REST API for media, lists, relationships, and auth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OpenAPI-first contract with shared schemas (planned)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Admin token for privileged media CRUD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</a:pPr>
            <a:endParaRPr lang="en-US" sz="2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pic>
        <p:nvPicPr>
          <p:cNvPr id="81" name="Picture 4"/>
          <p:cNvPicPr/>
          <p:nvPr/>
        </p:nvPicPr>
        <p:blipFill>
          <a:blip r:embed="rId1"/>
          <a:stretch/>
        </p:blipFill>
        <p:spPr>
          <a:xfrm>
            <a:off x="6099120" y="1525320"/>
            <a:ext cx="5458680" cy="38073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631080" y="640080"/>
            <a:ext cx="4818600" cy="1481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en-US" sz="5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Database:</a:t>
            </a:r>
            <a:endParaRPr lang="en-US" sz="50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631080" y="2660760"/>
            <a:ext cx="4818600" cy="3547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77500" lnSpcReduction="19999"/>
          </a:bodyPr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single PostgreSQL DB with schema isolation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Single Postgres database with schema isolation (`media`, `users`, `interaction`, `auth`)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`media.media` holds canonical metadata; type-specific fields in JSONB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`interaction.user_media` hash-partitioned by `user_id`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Relationships modeled as explicit graph edges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</a:pPr>
            <a:endParaRPr lang="en-US" sz="2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pic>
        <p:nvPicPr>
          <p:cNvPr id="84" name="Picture 4"/>
          <p:cNvPicPr/>
          <p:nvPr/>
        </p:nvPicPr>
        <p:blipFill>
          <a:blip r:embed="rId1"/>
          <a:stretch/>
        </p:blipFill>
        <p:spPr>
          <a:xfrm>
            <a:off x="6099120" y="1525320"/>
            <a:ext cx="5458680" cy="38073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631080" y="640080"/>
            <a:ext cx="4818600" cy="1481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en-US" sz="5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Backlog:</a:t>
            </a:r>
            <a:endParaRPr lang="en-US" sz="50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86" name="PlaceHolder 2"/>
          <p:cNvSpPr>
            <a:spLocks noGrp="1"/>
          </p:cNvSpPr>
          <p:nvPr>
            <p:ph/>
          </p:nvPr>
        </p:nvSpPr>
        <p:spPr>
          <a:xfrm>
            <a:off x="631080" y="2660760"/>
            <a:ext cx="4818600" cy="3547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55000" lnSpcReduction="19999"/>
          </a:bodyPr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API: OpenAPI-first contract + generated typed client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UI: TanStack Query/Table + Tailwind adoption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Data: Postgres FTS/pg_trgm for search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Observability: Sentry + structured logging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Mobile: Expo app start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Specific media pages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Profile page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Auth: OIDC providers (Google/Apple), account linking, 2FA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Reviews: API + UI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Ads/consent system, social features, subscriptions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pic>
        <p:nvPicPr>
          <p:cNvPr id="87" name="Picture 4"/>
          <p:cNvPicPr/>
          <p:nvPr/>
        </p:nvPicPr>
        <p:blipFill>
          <a:blip r:embed="rId1"/>
          <a:stretch/>
        </p:blipFill>
        <p:spPr>
          <a:xfrm>
            <a:off x="6099120" y="1525320"/>
            <a:ext cx="5458680" cy="38073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8" name="Rectangle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631080" y="639360"/>
            <a:ext cx="3428640" cy="1718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en-US" sz="5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Widget Mockups</a:t>
            </a:r>
            <a:endParaRPr lang="en-US" sz="5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90" name="sketch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3320" y="2573640"/>
            <a:ext cx="3254760" cy="18000"/>
          </a:xfrm>
          <a:custGeom>
            <a:avLst/>
            <a:gdLst>
              <a:gd name="textAreaLeft" fmla="*/ 0 w 3254760"/>
              <a:gd name="textAreaRight" fmla="*/ 3255120 w 3254760"/>
              <a:gd name="textAreaTop" fmla="*/ 0 h 18000"/>
              <a:gd name="textAreaBottom" fmla="*/ 18360 h 18000"/>
              <a:gd name="GluePoint1X" fmla="*/ 0 w 3255095"/>
              <a:gd name="GluePoint1Y" fmla="*/ 0 h 18288"/>
              <a:gd name="GluePoint2X" fmla="*/ 618468 w 3255095"/>
              <a:gd name="GluePoint2Y" fmla="*/ 0 h 18288"/>
              <a:gd name="GluePoint3X" fmla="*/ 1269487 w 3255095"/>
              <a:gd name="GluePoint3Y" fmla="*/ 0 h 18288"/>
              <a:gd name="GluePoint4X" fmla="*/ 1953057 w 3255095"/>
              <a:gd name="GluePoint4Y" fmla="*/ 0 h 18288"/>
              <a:gd name="GluePoint5X" fmla="*/ 2636627 w 3255095"/>
              <a:gd name="GluePoint5Y" fmla="*/ 0 h 18288"/>
              <a:gd name="GluePoint6X" fmla="*/ 3255095 w 3255095"/>
              <a:gd name="GluePoint6Y" fmla="*/ 0 h 18288"/>
              <a:gd name="GluePoint7X" fmla="*/ 3255095 w 3255095"/>
              <a:gd name="GluePoint7Y" fmla="*/ 18288 h 18288"/>
              <a:gd name="GluePoint8X" fmla="*/ 2538974 w 3255095"/>
              <a:gd name="GluePoint8Y" fmla="*/ 18288 h 18288"/>
              <a:gd name="GluePoint9X" fmla="*/ 1822853 w 3255095"/>
              <a:gd name="GluePoint9Y" fmla="*/ 18288 h 18288"/>
              <a:gd name="GluePoint10X" fmla="*/ 1171834 w 3255095"/>
              <a:gd name="GluePoint10Y" fmla="*/ 18288 h 18288"/>
              <a:gd name="GluePoint11X" fmla="*/ 0 w 3255095"/>
              <a:gd name="GluePoint11Y" fmla="*/ 18288 h 18288"/>
              <a:gd name="GluePoint12X" fmla="*/ 0 w 3255095"/>
              <a:gd name="GluePoint12Y" fmla="*/ 0 h 18288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</a:cxnLst>
            <a:rect l="textAreaLeft" t="textAreaTop" r="textAreaRight" b="textAreaBottom"/>
            <a:pathLst>
              <a:path fill="none" w="3255095" h="18288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stroke="0" w="3255095" h="18288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cap="rnd" w="38100">
            <a:solidFill>
              <a:srgbClr val="E97132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-26640" rIns="90000" bIns="-26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91" name="PlaceHolder 2"/>
          <p:cNvSpPr>
            <a:spLocks noGrp="1"/>
          </p:cNvSpPr>
          <p:nvPr>
            <p:ph/>
          </p:nvPr>
        </p:nvSpPr>
        <p:spPr>
          <a:xfrm>
            <a:off x="631080" y="2807280"/>
            <a:ext cx="3428640" cy="3410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lnSpcReduction="9999"/>
          </a:bodyPr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Small widget to add titles to existing list</a:t>
            </a:r>
            <a:endParaRPr lang="en-US" sz="2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Medium widget to pick random show/movie/etc with optional genre selector</a:t>
            </a:r>
            <a:endParaRPr lang="en-US" sz="2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Large widget to view lists with optional category/genre selection</a:t>
            </a:r>
            <a:endParaRPr lang="en-US" sz="2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pic>
        <p:nvPicPr>
          <p:cNvPr id="92" name="Content Placeholder 4"/>
          <p:cNvPicPr/>
          <p:nvPr/>
        </p:nvPicPr>
        <p:blipFill>
          <a:blip r:embed="rId1"/>
          <a:stretch/>
        </p:blipFill>
        <p:spPr>
          <a:xfrm>
            <a:off x="4093200" y="1460160"/>
            <a:ext cx="8109360" cy="5656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 pitchFamily="0" charset="1"/>
        <a:ea typeface=""/>
        <a:cs typeface=""/>
      </a:majorFont>
      <a:minorFont>
        <a:latin typeface="Aptos" panose="0211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Metadata/LabelInfo.xml><?xml version="1.0" encoding="utf-8"?>
<clbl:labelList xmlns:clbl="http://schemas.microsoft.com/office/2020/mipLabelMetadata">
  <clbl:label id="{bb5d96ea-ab39-44a0-a6d6-b6f0aac5958b}" enabled="1" method="Privileged" siteId="{76a2ae5a-9f00-4f6b-95ed-5d33d77c4d61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41</TotalTime>
  <Application>LibreOffice/26.2.0.3$Linux_X86_64 LibreOffice_project/fe3eb08e68094c2c534e21b03e8dcc3571b72164</Application>
  <AppVersion>15.0000</AppVersion>
  <Words>374</Words>
  <Paragraphs>45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2026-02-07T18:51:32Z</dcterms:created>
  <dc:creator>Walker, Sydney</dc:creator>
  <dc:description/>
  <dc:language>en-US</dc:language>
  <cp:lastModifiedBy/>
  <dcterms:modified xsi:type="dcterms:W3CDTF">2026-02-07T17:29:03Z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i4>9</vt:i4>
  </property>
</Properties>
</file>